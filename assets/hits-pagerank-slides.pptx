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Playfair Display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Century Gothic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.fntdata"/><Relationship Id="rId22" Type="http://schemas.openxmlformats.org/officeDocument/2006/relationships/font" Target="fonts/PlayfairDisplay-boldItalic.fntdata"/><Relationship Id="rId21" Type="http://schemas.openxmlformats.org/officeDocument/2006/relationships/font" Target="fonts/PlayfairDisplay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CenturyGothic-bold.fntdata"/><Relationship Id="rId27" Type="http://schemas.openxmlformats.org/officeDocument/2006/relationships/font" Target="fonts/CenturyGothic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enturyGothic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CenturyGothic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ayfairDisplay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cbd99a17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cbd99a17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0576bc9d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0576bc9d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50576bc9d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50576bc9d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25616e4a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25616e4a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web-Google</a:t>
            </a:r>
            <a:r>
              <a:rPr lang="en">
                <a:solidFill>
                  <a:schemeClr val="dk1"/>
                </a:solidFill>
              </a:rPr>
              <a:t> graph dataset is ideal for both </a:t>
            </a:r>
            <a:r>
              <a:rPr b="1" lang="en">
                <a:solidFill>
                  <a:schemeClr val="dk1"/>
                </a:solidFill>
              </a:rPr>
              <a:t>PageRank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HITS</a:t>
            </a:r>
            <a:r>
              <a:rPr lang="en">
                <a:solidFill>
                  <a:schemeClr val="dk1"/>
                </a:solidFill>
              </a:rPr>
              <a:t> because it mimics how actual web pages link to each other. </a:t>
            </a:r>
            <a:r>
              <a:rPr b="1" lang="en">
                <a:solidFill>
                  <a:schemeClr val="dk1"/>
                </a:solidFill>
              </a:rPr>
              <a:t>PageRank</a:t>
            </a:r>
            <a:r>
              <a:rPr lang="en">
                <a:solidFill>
                  <a:schemeClr val="dk1"/>
                </a:solidFill>
              </a:rPr>
              <a:t> reflects how likely a user is to land on a page by randomly surfing the web, while </a:t>
            </a:r>
            <a:r>
              <a:rPr b="1" lang="en">
                <a:solidFill>
                  <a:schemeClr val="dk1"/>
                </a:solidFill>
              </a:rPr>
              <a:t>HITS</a:t>
            </a:r>
            <a:r>
              <a:rPr lang="en">
                <a:solidFill>
                  <a:schemeClr val="dk1"/>
                </a:solidFill>
              </a:rPr>
              <a:t> can help us find </a:t>
            </a:r>
            <a:r>
              <a:rPr b="1" lang="en">
                <a:solidFill>
                  <a:schemeClr val="dk1"/>
                </a:solidFill>
              </a:rPr>
              <a:t>hub pages</a:t>
            </a:r>
            <a:r>
              <a:rPr lang="en">
                <a:solidFill>
                  <a:schemeClr val="dk1"/>
                </a:solidFill>
              </a:rPr>
              <a:t> that link to many authorities and </a:t>
            </a:r>
            <a:r>
              <a:rPr b="1" lang="en">
                <a:solidFill>
                  <a:schemeClr val="dk1"/>
                </a:solidFill>
              </a:rPr>
              <a:t>authority pages</a:t>
            </a:r>
            <a:r>
              <a:rPr lang="en">
                <a:solidFill>
                  <a:schemeClr val="dk1"/>
                </a:solidFill>
              </a:rPr>
              <a:t> that are widely linked.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Next is the </a:t>
            </a:r>
            <a:r>
              <a:rPr b="1" lang="en">
                <a:solidFill>
                  <a:schemeClr val="dk1"/>
                </a:solidFill>
              </a:rPr>
              <a:t>wiki-Talk</a:t>
            </a:r>
            <a:r>
              <a:rPr lang="en">
                <a:solidFill>
                  <a:schemeClr val="dk1"/>
                </a:solidFill>
              </a:rPr>
              <a:t> network.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This is a </a:t>
            </a:r>
            <a:r>
              <a:rPr b="1" lang="en">
                <a:solidFill>
                  <a:schemeClr val="dk1"/>
                </a:solidFill>
              </a:rPr>
              <a:t>directed graph</a:t>
            </a:r>
            <a:r>
              <a:rPr lang="en">
                <a:solidFill>
                  <a:schemeClr val="dk1"/>
                </a:solidFill>
              </a:rPr>
              <a:t> where each edge represents a message sent from one Wikipedia user to another.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 third dataset is the </a:t>
            </a:r>
            <a:r>
              <a:rPr b="1" lang="en">
                <a:solidFill>
                  <a:schemeClr val="dk1"/>
                </a:solidFill>
              </a:rPr>
              <a:t>Orkut social network</a:t>
            </a:r>
            <a:r>
              <a:rPr lang="en">
                <a:solidFill>
                  <a:schemeClr val="dk1"/>
                </a:solidFill>
              </a:rPr>
              <a:t>, from the now-defunct Google social platform.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It is extremely large, with </a:t>
            </a:r>
            <a:r>
              <a:rPr b="1" lang="en">
                <a:solidFill>
                  <a:schemeClr val="dk1"/>
                </a:solidFill>
              </a:rPr>
              <a:t>over 3 million users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more than 117 million connections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Although the graph is </a:t>
            </a:r>
            <a:r>
              <a:rPr b="1" lang="en">
                <a:solidFill>
                  <a:schemeClr val="dk1"/>
                </a:solidFill>
              </a:rPr>
              <a:t>undirected</a:t>
            </a:r>
            <a:r>
              <a:rPr lang="en">
                <a:solidFill>
                  <a:schemeClr val="dk1"/>
                </a:solidFill>
              </a:rPr>
              <a:t>, we treat it as </a:t>
            </a:r>
            <a:r>
              <a:rPr b="1" lang="en">
                <a:solidFill>
                  <a:schemeClr val="dk1"/>
                </a:solidFill>
              </a:rPr>
              <a:t>bidirectional</a:t>
            </a:r>
            <a:r>
              <a:rPr lang="en">
                <a:solidFill>
                  <a:schemeClr val="dk1"/>
                </a:solidFill>
              </a:rPr>
              <a:t> to apply both HITS and PageRank's where each edge represents a message sent from one Wikipedia user to another.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ca-GrQc (Collaboration Network)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b9f639ff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b9f639ff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4cbd99a17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4cbd99a17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25616e4a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25616e4a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d484d7d9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d484d7d9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Now let’s talk about </a:t>
            </a:r>
            <a:r>
              <a:rPr b="1" lang="en">
                <a:solidFill>
                  <a:schemeClr val="dk1"/>
                </a:solidFill>
              </a:rPr>
              <a:t>PageRank</a:t>
            </a:r>
            <a:r>
              <a:rPr lang="en">
                <a:solidFill>
                  <a:schemeClr val="dk1"/>
                </a:solidFill>
              </a:rPr>
              <a:t>, one of the most iconic algorithms developed by Google to rank web pages.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PageRank works on the idea that if a page is linked by many other pages — especially ones that are themselves important — then it must be a valuable or important page.</a:t>
            </a:r>
            <a:endParaRPr>
              <a:solidFill>
                <a:schemeClr val="dk1"/>
              </a:solidFill>
            </a:endParaRPr>
          </a:p>
          <a:p>
            <a:pPr indent="0" lvl="0" marL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simple terms, it’s like academic citation. If many important papers cite one particular paper, then that paper is likely influential.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25616e4a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525616e4a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At the beginning, every node or web page is assigned an equal rank.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Then, in each iteration, it </a:t>
            </a:r>
            <a:r>
              <a:rPr b="1" lang="en">
                <a:solidFill>
                  <a:schemeClr val="dk1"/>
                </a:solidFill>
              </a:rPr>
              <a:t>distributes its current rank to all the pages it links to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So if a page has 3 outgoing links, it gives one-third of its rank to each of the three target pages.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avoid the algorithm getting trapped in loops or dead ends, PageRank uses something called a </a:t>
            </a:r>
            <a:r>
              <a:rPr b="1" lang="en">
                <a:solidFill>
                  <a:schemeClr val="dk1"/>
                </a:solidFill>
              </a:rPr>
              <a:t>damping factor</a:t>
            </a:r>
            <a:r>
              <a:rPr lang="en">
                <a:solidFill>
                  <a:schemeClr val="dk1"/>
                </a:solidFill>
              </a:rPr>
              <a:t>, typically set to 0.85.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This factor simulates a user who, with 85% probability, continues clicking links, and with 15% probability, jumps to a random page.</a:t>
            </a:r>
            <a:endParaRPr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●The process continues iteratively, redistributing the rank, until the values converge — meaning, the rank scores no longer change significantly from one iteration to the next.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25616e4a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25616e4a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PageRank is highly iterative and computationally expensive on large graphs.</a:t>
            </a:r>
            <a:br>
              <a:rPr lang="en"/>
            </a:br>
            <a:r>
              <a:rPr lang="en"/>
              <a:t> To speed it up, we implemented two parallel versions Shared Memory using OpenMP and Distributed Memory with MPI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the OpenMP version, we parallelized the main computational loops using multithreading.</a:t>
            </a:r>
            <a:br>
              <a:rPr lang="en"/>
            </a:br>
            <a:r>
              <a:rPr lang="en"/>
              <a:t> Key loops like out-degree counting, vector initialization, and rank propagation are parallelized using #pragma omp parallel for.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For MPI, we take a distributed approach by partitioning the nodes across processes.</a:t>
            </a:r>
            <a:br>
              <a:rPr lang="en"/>
            </a:br>
            <a:r>
              <a:rPr lang="en"/>
              <a:t> Each process is responsible for a chunk of nodes — this is done using block partitioning.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each iteration:</a:t>
            </a:r>
            <a:endParaRPr/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1.Every process locally computes PageRank updates for its own nodes.</a:t>
            </a:r>
            <a:endParaRPr/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2.To synchronize the global view of the PageRank vector, we use MPI_Allreduce to aggregate the partial results across processes.</a:t>
            </a:r>
            <a:endParaRPr/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3.We also compute the convergence metric using another MPI_Allreduce.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d568057a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d568057a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As we can see, </a:t>
            </a:r>
            <a:r>
              <a:rPr b="1" lang="en">
                <a:solidFill>
                  <a:schemeClr val="dk1"/>
                </a:solidFill>
              </a:rPr>
              <a:t>OpenMP consistently outperforms MPI</a:t>
            </a:r>
            <a:r>
              <a:rPr lang="en">
                <a:solidFill>
                  <a:schemeClr val="dk1"/>
                </a:solidFill>
              </a:rPr>
              <a:t> across all datasets. For example, in the Web-Google dataset, OpenMP completes execution in about 2.5 seconds, while MPI takes nearly double that time.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The most noticeable difference is with the </a:t>
            </a:r>
            <a:r>
              <a:rPr b="1" lang="en">
                <a:solidFill>
                  <a:schemeClr val="dk1"/>
                </a:solidFill>
              </a:rPr>
              <a:t>Orkut dataset</a:t>
            </a:r>
            <a:r>
              <a:rPr lang="en">
                <a:solidFill>
                  <a:schemeClr val="dk1"/>
                </a:solidFill>
              </a:rPr>
              <a:t>. This is likely the largest or most complex dataset in our comparison.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Here, OpenMP executes in around </a:t>
            </a:r>
            <a:r>
              <a:rPr b="1" lang="en">
                <a:solidFill>
                  <a:schemeClr val="dk1"/>
                </a:solidFill>
              </a:rPr>
              <a:t>52 seconds</a:t>
            </a:r>
            <a:r>
              <a:rPr lang="en">
                <a:solidFill>
                  <a:schemeClr val="dk1"/>
                </a:solidFill>
              </a:rPr>
              <a:t>, whereas MPI takes over </a:t>
            </a:r>
            <a:r>
              <a:rPr b="1" lang="en">
                <a:solidFill>
                  <a:schemeClr val="dk1"/>
                </a:solidFill>
              </a:rPr>
              <a:t>110 seconds</a:t>
            </a:r>
            <a:r>
              <a:rPr lang="en">
                <a:solidFill>
                  <a:schemeClr val="dk1"/>
                </a:solidFill>
              </a:rPr>
              <a:t>—more than twice as long.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large gap can likely be attributed to the </a:t>
            </a:r>
            <a:r>
              <a:rPr b="1" lang="en">
                <a:solidFill>
                  <a:schemeClr val="dk1"/>
                </a:solidFill>
              </a:rPr>
              <a:t>overhead in MPI's message-passing model</a:t>
            </a:r>
            <a:r>
              <a:rPr lang="en">
                <a:solidFill>
                  <a:schemeClr val="dk1"/>
                </a:solidFill>
              </a:rPr>
              <a:t>, especially on shared-memory systems. In contrast, </a:t>
            </a:r>
            <a:r>
              <a:rPr b="1" lang="en">
                <a:solidFill>
                  <a:schemeClr val="dk1"/>
                </a:solidFill>
              </a:rPr>
              <a:t>OpenMP benefits from shared memory</a:t>
            </a:r>
            <a:r>
              <a:rPr lang="en">
                <a:solidFill>
                  <a:schemeClr val="dk1"/>
                </a:solidFill>
              </a:rPr>
              <a:t>, offering better performance for these types of computations.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Even in the smallest dataset, </a:t>
            </a:r>
            <a:r>
              <a:rPr b="1" lang="en">
                <a:solidFill>
                  <a:schemeClr val="dk1"/>
                </a:solidFill>
              </a:rPr>
              <a:t>ca-GrQC</a:t>
            </a:r>
            <a:r>
              <a:rPr lang="en">
                <a:solidFill>
                  <a:schemeClr val="dk1"/>
                </a:solidFill>
              </a:rPr>
              <a:t>, both methods complete almost instantly, which makes sense given the minimal workload.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0576bc9d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50576bc9d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25616e4a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25616e4a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2289975" y="1207600"/>
            <a:ext cx="15099600" cy="8349000"/>
          </a:xfrm>
          <a:prstGeom prst="rect">
            <a:avLst/>
          </a:prstGeom>
          <a:noFill/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15925" y="1995750"/>
            <a:ext cx="13399800" cy="3168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None/>
              <a:defRPr b="0" sz="6500">
                <a:solidFill>
                  <a:srgbClr val="000000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215925" y="6284150"/>
            <a:ext cx="13399800" cy="14028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4600"/>
              <a:buNone/>
              <a:defRPr sz="4600">
                <a:solidFill>
                  <a:srgbClr val="66666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fair Display"/>
              <a:buNone/>
              <a:defRPr b="1" sz="36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384650" y="1139350"/>
            <a:ext cx="1404300" cy="850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2357875" y="2847750"/>
            <a:ext cx="14910900" cy="3596400"/>
          </a:xfrm>
          <a:prstGeom prst="rect">
            <a:avLst/>
          </a:prstGeom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500"/>
              <a:buNone/>
              <a:defRPr b="0" sz="8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384650" y="1139350"/>
            <a:ext cx="1404300" cy="850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1967950" y="2228750"/>
            <a:ext cx="156966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indent="-450850" lvl="1" marL="9144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2pPr>
            <a:lvl3pPr indent="-450850" lvl="2" marL="13716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/>
            </a:lvl3pPr>
            <a:lvl4pPr indent="-450850" lvl="3" marL="18288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/>
            </a:lvl4pPr>
            <a:lvl5pPr indent="-450850" lvl="4" marL="22860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5pPr>
            <a:lvl6pPr indent="-450850" lvl="5" marL="27432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/>
            </a:lvl6pPr>
            <a:lvl7pPr indent="-450850" lvl="6" marL="32004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/>
            </a:lvl7pPr>
            <a:lvl8pPr indent="-450850" lvl="7" marL="36576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8pPr>
            <a:lvl9pPr indent="-450850" lvl="8" marL="411480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384650" y="1139350"/>
            <a:ext cx="1404300" cy="850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idx="1" type="body"/>
          </p:nvPr>
        </p:nvSpPr>
        <p:spPr>
          <a:xfrm>
            <a:off x="1967950" y="2228750"/>
            <a:ext cx="7213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indent="-450850" lvl="1" marL="9144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2pPr>
            <a:lvl3pPr indent="-450850" lvl="2" marL="13716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3pPr>
            <a:lvl4pPr indent="-450850" lvl="3" marL="18288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4pPr>
            <a:lvl5pPr indent="-450850" lvl="4" marL="22860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5pPr>
            <a:lvl6pPr indent="-450850" lvl="5" marL="27432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6pPr>
            <a:lvl7pPr indent="-450850" lvl="6" marL="32004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7pPr>
            <a:lvl8pPr indent="-450850" lvl="7" marL="36576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8pPr>
            <a:lvl9pPr indent="-450850" lvl="8" marL="411480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 sz="35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10299000" y="2228750"/>
            <a:ext cx="7213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indent="-450850" lvl="1" marL="9144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2pPr>
            <a:lvl3pPr indent="-450850" lvl="2" marL="13716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3pPr>
            <a:lvl4pPr indent="-450850" lvl="3" marL="18288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4pPr>
            <a:lvl5pPr indent="-450850" lvl="4" marL="22860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5pPr>
            <a:lvl6pPr indent="-450850" lvl="5" marL="27432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6pPr>
            <a:lvl7pPr indent="-450850" lvl="6" marL="32004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7pPr>
            <a:lvl8pPr indent="-450850" lvl="7" marL="36576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8pPr>
            <a:lvl9pPr indent="-450850" lvl="8" marL="411480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 sz="35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384650" y="1139350"/>
            <a:ext cx="1404300" cy="850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5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623400" y="22287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 rtl="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indent="-450850" lvl="1" marL="914400" rtl="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2pPr>
            <a:lvl3pPr indent="-450850" lvl="2" marL="1371600" rtl="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3pPr>
            <a:lvl4pPr indent="-450850" lvl="3" marL="1828800" rtl="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4pPr>
            <a:lvl5pPr indent="-450850" lvl="4" marL="2286000" rtl="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5pPr>
            <a:lvl6pPr indent="-450850" lvl="5" marL="2743200" rtl="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6pPr>
            <a:lvl7pPr indent="-450850" lvl="6" marL="3200400" rtl="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7pPr>
            <a:lvl8pPr indent="-450850" lvl="7" marL="3657600" rtl="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8pPr>
            <a:lvl9pPr indent="-450850" lvl="8" marL="4114800" rtl="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 sz="3500"/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9664800" y="22287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 rtl="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indent="-450850" lvl="1" marL="914400" rtl="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2pPr>
            <a:lvl3pPr indent="-450850" lvl="2" marL="1371600" rtl="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3pPr>
            <a:lvl4pPr indent="-450850" lvl="3" marL="1828800" rtl="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4pPr>
            <a:lvl5pPr indent="-450850" lvl="4" marL="2286000" rtl="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5pPr>
            <a:lvl6pPr indent="-450850" lvl="5" marL="2743200" rtl="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6pPr>
            <a:lvl7pPr indent="-450850" lvl="6" marL="3200400" rtl="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7pPr>
            <a:lvl8pPr indent="-450850" lvl="7" marL="3657600" rtl="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8pPr>
            <a:lvl9pPr indent="-450850" lvl="8" marL="4114800" rtl="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 sz="35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71000" y="12636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623400" y="2782755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SzPts val="3500"/>
              <a:buChar char="●"/>
              <a:defRPr sz="3500"/>
            </a:lvl1pPr>
            <a:lvl2pPr indent="-450850" lvl="1" marL="9144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2pPr>
            <a:lvl3pPr indent="-450850" lvl="2" marL="13716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3pPr>
            <a:lvl4pPr indent="-450850" lvl="3" marL="18288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4pPr>
            <a:lvl5pPr indent="-450850" lvl="4" marL="22860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5pPr>
            <a:lvl6pPr indent="-450850" lvl="5" marL="2743200">
              <a:spcBef>
                <a:spcPts val="3200"/>
              </a:spcBef>
              <a:spcAft>
                <a:spcPts val="0"/>
              </a:spcAft>
              <a:buSzPts val="3500"/>
              <a:buChar char="■"/>
              <a:defRPr sz="3500"/>
            </a:lvl6pPr>
            <a:lvl7pPr indent="-450850" lvl="6" marL="3200400">
              <a:spcBef>
                <a:spcPts val="3200"/>
              </a:spcBef>
              <a:spcAft>
                <a:spcPts val="0"/>
              </a:spcAft>
              <a:buSzPts val="3500"/>
              <a:buChar char="●"/>
              <a:defRPr sz="3500"/>
            </a:lvl7pPr>
            <a:lvl8pPr indent="-450850" lvl="7" marL="3657600">
              <a:spcBef>
                <a:spcPts val="3200"/>
              </a:spcBef>
              <a:spcAft>
                <a:spcPts val="0"/>
              </a:spcAft>
              <a:buSzPts val="3500"/>
              <a:buChar char="○"/>
              <a:defRPr sz="3500"/>
            </a:lvl8pPr>
            <a:lvl9pPr indent="-450850" lvl="8" marL="4114800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 sz="3500"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980500" y="1052700"/>
            <a:ext cx="112374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b="0" sz="9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Font typeface="Lato"/>
              <a:buNone/>
              <a:defRPr b="0" sz="9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/>
          <p:nvPr/>
        </p:nvSpPr>
        <p:spPr>
          <a:xfrm>
            <a:off x="9144000" y="-50"/>
            <a:ext cx="9144000" cy="10287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10"/>
          <p:cNvCxnSpPr/>
          <p:nvPr/>
        </p:nvCxnSpPr>
        <p:spPr>
          <a:xfrm>
            <a:off x="10059350" y="8991000"/>
            <a:ext cx="936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10"/>
          <p:cNvSpPr txBox="1"/>
          <p:nvPr>
            <p:ph type="title"/>
          </p:nvPr>
        </p:nvSpPr>
        <p:spPr>
          <a:xfrm>
            <a:off x="531000" y="2215900"/>
            <a:ext cx="8090400" cy="3367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50" name="Google Shape;50;p10"/>
          <p:cNvSpPr txBox="1"/>
          <p:nvPr>
            <p:ph idx="1" type="subTitle"/>
          </p:nvPr>
        </p:nvSpPr>
        <p:spPr>
          <a:xfrm>
            <a:off x="531000" y="5690402"/>
            <a:ext cx="8090400" cy="26910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9879000" y="144840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indent="-450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Char char="●"/>
              <a:defRPr>
                <a:solidFill>
                  <a:schemeClr val="lt1"/>
                </a:solidFill>
              </a:defRPr>
            </a:lvl1pPr>
            <a:lvl2pPr indent="-450850" lvl="1" marL="914400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3500"/>
              <a:buChar char="○"/>
              <a:defRPr>
                <a:solidFill>
                  <a:schemeClr val="lt1"/>
                </a:solidFill>
              </a:defRPr>
            </a:lvl2pPr>
            <a:lvl3pPr indent="-450850" lvl="2" marL="1371600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3500"/>
              <a:buChar char="■"/>
              <a:defRPr>
                <a:solidFill>
                  <a:schemeClr val="lt1"/>
                </a:solidFill>
              </a:defRPr>
            </a:lvl3pPr>
            <a:lvl4pPr indent="-450850" lvl="3" marL="1828800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3500"/>
              <a:buChar char="●"/>
              <a:defRPr>
                <a:solidFill>
                  <a:schemeClr val="lt1"/>
                </a:solidFill>
              </a:defRPr>
            </a:lvl4pPr>
            <a:lvl5pPr indent="-450850" lvl="4" marL="2286000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3500"/>
              <a:buChar char="○"/>
              <a:defRPr>
                <a:solidFill>
                  <a:schemeClr val="lt1"/>
                </a:solidFill>
              </a:defRPr>
            </a:lvl5pPr>
            <a:lvl6pPr indent="-450850" lvl="5" marL="2743200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3500"/>
              <a:buChar char="■"/>
              <a:defRPr>
                <a:solidFill>
                  <a:schemeClr val="lt1"/>
                </a:solidFill>
              </a:defRPr>
            </a:lvl6pPr>
            <a:lvl7pPr indent="-450850" lvl="6" marL="3200400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3500"/>
              <a:buChar char="●"/>
              <a:defRPr>
                <a:solidFill>
                  <a:schemeClr val="lt1"/>
                </a:solidFill>
              </a:defRPr>
            </a:lvl7pPr>
            <a:lvl8pPr indent="-450850" lvl="7" marL="3657600">
              <a:spcBef>
                <a:spcPts val="3200"/>
              </a:spcBef>
              <a:spcAft>
                <a:spcPts val="0"/>
              </a:spcAft>
              <a:buClr>
                <a:schemeClr val="lt1"/>
              </a:buClr>
              <a:buSzPts val="3500"/>
              <a:buChar char="○"/>
              <a:defRPr>
                <a:solidFill>
                  <a:schemeClr val="lt1"/>
                </a:solidFill>
              </a:defRPr>
            </a:lvl8pPr>
            <a:lvl9pPr indent="-450850" lvl="8" marL="4114800">
              <a:spcBef>
                <a:spcPts val="3200"/>
              </a:spcBef>
              <a:spcAft>
                <a:spcPts val="3200"/>
              </a:spcAft>
              <a:buClr>
                <a:schemeClr val="lt1"/>
              </a:buClr>
              <a:buSzPts val="3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 sz="2600">
                <a:solidFill>
                  <a:schemeClr val="lt1"/>
                </a:solidFill>
              </a:defRPr>
            </a:lvl1pPr>
            <a:lvl2pPr lvl="1">
              <a:buNone/>
              <a:defRPr sz="2600">
                <a:solidFill>
                  <a:schemeClr val="lt1"/>
                </a:solidFill>
              </a:defRPr>
            </a:lvl2pPr>
            <a:lvl3pPr lvl="2">
              <a:buNone/>
              <a:defRPr sz="2600">
                <a:solidFill>
                  <a:schemeClr val="lt1"/>
                </a:solidFill>
              </a:defRPr>
            </a:lvl3pPr>
            <a:lvl4pPr lvl="3">
              <a:buNone/>
              <a:defRPr sz="2600">
                <a:solidFill>
                  <a:schemeClr val="lt1"/>
                </a:solidFill>
              </a:defRPr>
            </a:lvl4pPr>
            <a:lvl5pPr lvl="4">
              <a:buNone/>
              <a:defRPr sz="2600">
                <a:solidFill>
                  <a:schemeClr val="lt1"/>
                </a:solidFill>
              </a:defRPr>
            </a:lvl5pPr>
            <a:lvl6pPr lvl="5">
              <a:buNone/>
              <a:defRPr sz="2600">
                <a:solidFill>
                  <a:schemeClr val="lt1"/>
                </a:solidFill>
              </a:defRPr>
            </a:lvl6pPr>
            <a:lvl7pPr lvl="6">
              <a:buNone/>
              <a:defRPr sz="2600">
                <a:solidFill>
                  <a:schemeClr val="lt1"/>
                </a:solidFill>
              </a:defRPr>
            </a:lvl7pPr>
            <a:lvl8pPr lvl="7">
              <a:buNone/>
              <a:defRPr sz="2600">
                <a:solidFill>
                  <a:schemeClr val="lt1"/>
                </a:solidFill>
              </a:defRPr>
            </a:lvl8pPr>
            <a:lvl9pPr lvl="8">
              <a:buNone/>
              <a:defRPr sz="26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639000" y="8461150"/>
            <a:ext cx="11997600" cy="1197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None/>
              <a:defRPr>
                <a:solidFill>
                  <a:srgbClr val="000000"/>
                </a:solidFill>
              </a:defRPr>
            </a:lvl1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/>
          <p:nvPr/>
        </p:nvSpPr>
        <p:spPr>
          <a:xfrm>
            <a:off x="0" y="10091400"/>
            <a:ext cx="18288000" cy="195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2"/>
          <p:cNvSpPr txBox="1"/>
          <p:nvPr>
            <p:ph hasCustomPrompt="1" type="title"/>
          </p:nvPr>
        </p:nvSpPr>
        <p:spPr>
          <a:xfrm>
            <a:off x="623400" y="2466200"/>
            <a:ext cx="17041200" cy="3220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0000"/>
              <a:buFont typeface="Lato"/>
              <a:buNone/>
              <a:defRPr sz="2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623400" y="5838900"/>
            <a:ext cx="17041200" cy="2143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 algn="ctr">
              <a:spcBef>
                <a:spcPts val="0"/>
              </a:spcBef>
              <a:spcAft>
                <a:spcPts val="0"/>
              </a:spcAft>
              <a:buSzPts val="3500"/>
              <a:buChar char="●"/>
              <a:defRPr/>
            </a:lvl1pPr>
            <a:lvl2pPr indent="-450850" lvl="1" marL="914400" algn="ctr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2pPr>
            <a:lvl3pPr indent="-450850" lvl="2" marL="1371600" algn="ctr">
              <a:spcBef>
                <a:spcPts val="3200"/>
              </a:spcBef>
              <a:spcAft>
                <a:spcPts val="0"/>
              </a:spcAft>
              <a:buSzPts val="3500"/>
              <a:buChar char="■"/>
              <a:defRPr/>
            </a:lvl3pPr>
            <a:lvl4pPr indent="-450850" lvl="3" marL="1828800" algn="ctr">
              <a:spcBef>
                <a:spcPts val="3200"/>
              </a:spcBef>
              <a:spcAft>
                <a:spcPts val="0"/>
              </a:spcAft>
              <a:buSzPts val="3500"/>
              <a:buChar char="●"/>
              <a:defRPr/>
            </a:lvl4pPr>
            <a:lvl5pPr indent="-450850" lvl="4" marL="2286000" algn="ctr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5pPr>
            <a:lvl6pPr indent="-450850" lvl="5" marL="2743200" algn="ctr">
              <a:spcBef>
                <a:spcPts val="3200"/>
              </a:spcBef>
              <a:spcAft>
                <a:spcPts val="0"/>
              </a:spcAft>
              <a:buSzPts val="3500"/>
              <a:buChar char="■"/>
              <a:defRPr/>
            </a:lvl6pPr>
            <a:lvl7pPr indent="-450850" lvl="6" marL="3200400" algn="ctr">
              <a:spcBef>
                <a:spcPts val="3200"/>
              </a:spcBef>
              <a:spcAft>
                <a:spcPts val="0"/>
              </a:spcAft>
              <a:buSzPts val="3500"/>
              <a:buChar char="●"/>
              <a:defRPr/>
            </a:lvl7pPr>
            <a:lvl8pPr indent="-450850" lvl="7" marL="3657600" algn="ctr">
              <a:spcBef>
                <a:spcPts val="3200"/>
              </a:spcBef>
              <a:spcAft>
                <a:spcPts val="0"/>
              </a:spcAft>
              <a:buSzPts val="3500"/>
              <a:buChar char="○"/>
              <a:defRPr/>
            </a:lvl8pPr>
            <a:lvl9pPr indent="-450850" lvl="8" marL="4114800" algn="ctr">
              <a:spcBef>
                <a:spcPts val="3200"/>
              </a:spcBef>
              <a:spcAft>
                <a:spcPts val="3200"/>
              </a:spcAft>
              <a:buSzPts val="3500"/>
              <a:buChar char="■"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94800" y="858900"/>
            <a:ext cx="17041200" cy="1252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None/>
              <a:defRPr b="1" sz="6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Playfair Display"/>
              <a:buNone/>
              <a:defRPr b="1" sz="64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2287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Autofit/>
          </a:bodyPr>
          <a:lstStyle>
            <a:lvl1pPr indent="-4508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Char char="●"/>
              <a:defRPr sz="3500">
                <a:solidFill>
                  <a:srgbClr val="434343"/>
                </a:solidFill>
              </a:defRPr>
            </a:lvl1pPr>
            <a:lvl2pPr indent="-450850" lvl="1" marL="914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○"/>
              <a:defRPr sz="3500">
                <a:solidFill>
                  <a:srgbClr val="434343"/>
                </a:solidFill>
              </a:defRPr>
            </a:lvl2pPr>
            <a:lvl3pPr indent="-450850" lvl="2" marL="13716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■"/>
              <a:defRPr sz="3500">
                <a:solidFill>
                  <a:srgbClr val="434343"/>
                </a:solidFill>
              </a:defRPr>
            </a:lvl3pPr>
            <a:lvl4pPr indent="-450850" lvl="3" marL="18288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●"/>
              <a:defRPr sz="3500">
                <a:solidFill>
                  <a:srgbClr val="434343"/>
                </a:solidFill>
              </a:defRPr>
            </a:lvl4pPr>
            <a:lvl5pPr indent="-450850" lvl="4" marL="22860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○"/>
              <a:defRPr sz="3500">
                <a:solidFill>
                  <a:srgbClr val="434343"/>
                </a:solidFill>
              </a:defRPr>
            </a:lvl5pPr>
            <a:lvl6pPr indent="-450850" lvl="5" marL="27432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■"/>
              <a:defRPr sz="3500">
                <a:solidFill>
                  <a:srgbClr val="434343"/>
                </a:solidFill>
              </a:defRPr>
            </a:lvl6pPr>
            <a:lvl7pPr indent="-450850" lvl="6" marL="32004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●"/>
              <a:defRPr sz="3500">
                <a:solidFill>
                  <a:srgbClr val="434343"/>
                </a:solidFill>
              </a:defRPr>
            </a:lvl7pPr>
            <a:lvl8pPr indent="-450850" lvl="7" marL="3657600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rgbClr val="434343"/>
              </a:buClr>
              <a:buSzPts val="3500"/>
              <a:buChar char="○"/>
              <a:defRPr sz="3500">
                <a:solidFill>
                  <a:srgbClr val="434343"/>
                </a:solidFill>
              </a:defRPr>
            </a:lvl8pPr>
            <a:lvl9pPr indent="-450850" lvl="8" marL="4114800">
              <a:lnSpc>
                <a:spcPct val="115000"/>
              </a:lnSpc>
              <a:spcBef>
                <a:spcPts val="3200"/>
              </a:spcBef>
              <a:spcAft>
                <a:spcPts val="3200"/>
              </a:spcAft>
              <a:buClr>
                <a:srgbClr val="434343"/>
              </a:buClr>
              <a:buSzPts val="3500"/>
              <a:buChar char="■"/>
              <a:defRPr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80500" y="9362019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>
            <a:lvl1pPr lvl="0" algn="r">
              <a:buNone/>
              <a:defRPr sz="2600"/>
            </a:lvl1pPr>
            <a:lvl2pPr lvl="1" algn="r">
              <a:buNone/>
              <a:defRPr sz="2600"/>
            </a:lvl2pPr>
            <a:lvl3pPr lvl="2" algn="r">
              <a:buNone/>
              <a:defRPr sz="2600"/>
            </a:lvl3pPr>
            <a:lvl4pPr lvl="3" algn="r">
              <a:buNone/>
              <a:defRPr sz="2600"/>
            </a:lvl4pPr>
            <a:lvl5pPr lvl="4" algn="r">
              <a:buNone/>
              <a:defRPr sz="2600"/>
            </a:lvl5pPr>
            <a:lvl6pPr lvl="5" algn="r">
              <a:buNone/>
              <a:defRPr sz="2600"/>
            </a:lvl6pPr>
            <a:lvl7pPr lvl="6" algn="r">
              <a:buNone/>
              <a:defRPr sz="2600"/>
            </a:lvl7pPr>
            <a:lvl8pPr lvl="7" algn="r">
              <a:buNone/>
              <a:defRPr sz="2600"/>
            </a:lvl8pPr>
            <a:lvl9pPr lvl="8" algn="r">
              <a:buNone/>
              <a:defRPr sz="26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394800" y="194150"/>
            <a:ext cx="1403199" cy="675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en.wikipedia.org/wiki/HITS_algorith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ctrTitle"/>
          </p:nvPr>
        </p:nvSpPr>
        <p:spPr>
          <a:xfrm>
            <a:off x="3215925" y="1995750"/>
            <a:ext cx="13399800" cy="3168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Parallel Link-Based Ranking Algorithms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3343550" y="5543925"/>
            <a:ext cx="13399800" cy="14028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Autofit/>
          </a:bodyPr>
          <a:lstStyle/>
          <a:p>
            <a:pPr indent="-520700" lvl="0" marL="457200" rtl="0" algn="ctr">
              <a:spcBef>
                <a:spcPts val="0"/>
              </a:spcBef>
              <a:spcAft>
                <a:spcPts val="0"/>
              </a:spcAft>
              <a:buSzPts val="4600"/>
              <a:buFont typeface="Century Gothic"/>
              <a:buChar char="●"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Hyperlink Induced Topic Search Algorithm 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520700" lvl="0" marL="457200" rtl="0" algn="ctr">
              <a:spcBef>
                <a:spcPts val="0"/>
              </a:spcBef>
              <a:spcAft>
                <a:spcPts val="0"/>
              </a:spcAft>
              <a:buSzPts val="4600"/>
              <a:buFont typeface="Century Gothic"/>
              <a:buChar char="●"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Pagerank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5810900" y="7802075"/>
            <a:ext cx="8465100" cy="10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</a:rPr>
              <a:t>Sandhiya Shunmugavel and Sanjaey Shunmuga Sundaram</a:t>
            </a:r>
            <a:endParaRPr sz="24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/>
        </p:nvSpPr>
        <p:spPr>
          <a:xfrm>
            <a:off x="2839065" y="8066486"/>
            <a:ext cx="142956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5" name="Google Shape;75;p15"/>
          <p:cNvCxnSpPr/>
          <p:nvPr/>
        </p:nvCxnSpPr>
        <p:spPr>
          <a:xfrm>
            <a:off x="2710775" y="1735550"/>
            <a:ext cx="0" cy="1053600"/>
          </a:xfrm>
          <a:prstGeom prst="straightConnector1">
            <a:avLst/>
          </a:prstGeom>
          <a:noFill/>
          <a:ln cap="flat" cmpd="sng" w="28575">
            <a:solidFill>
              <a:srgbClr val="A61C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" name="Google Shape;76;p15"/>
          <p:cNvSpPr/>
          <p:nvPr/>
        </p:nvSpPr>
        <p:spPr>
          <a:xfrm>
            <a:off x="8134033" y="3253901"/>
            <a:ext cx="3353700" cy="37155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highlight>
                  <a:srgbClr val="FDFDFD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Enhances search result relevance using hyperlink structure</a:t>
            </a:r>
            <a:endParaRPr sz="26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12931661" y="3242453"/>
            <a:ext cx="3353700" cy="37155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latin typeface="Century Gothic"/>
                <a:ea typeface="Century Gothic"/>
                <a:cs typeface="Century Gothic"/>
                <a:sym typeface="Century Gothic"/>
              </a:rPr>
              <a:t>Complements content-based methods for better accuracy</a:t>
            </a:r>
            <a:endParaRPr sz="27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3038013" y="7505472"/>
            <a:ext cx="13781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3200">
                <a:latin typeface="Century Gothic"/>
                <a:ea typeface="Century Gothic"/>
                <a:cs typeface="Century Gothic"/>
                <a:sym typeface="Century Gothic"/>
              </a:rPr>
              <a:t>Parallelizing Link Based Ranking Algorithms for Fast Tracking</a:t>
            </a:r>
            <a:endParaRPr b="1" sz="32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>
            <a:off x="2710775" y="7434295"/>
            <a:ext cx="0" cy="1053600"/>
          </a:xfrm>
          <a:prstGeom prst="straightConnector1">
            <a:avLst/>
          </a:prstGeom>
          <a:noFill/>
          <a:ln cap="flat" cmpd="sng" w="28575">
            <a:solidFill>
              <a:srgbClr val="A61C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5"/>
          <p:cNvSpPr txBox="1"/>
          <p:nvPr/>
        </p:nvSpPr>
        <p:spPr>
          <a:xfrm>
            <a:off x="2920163" y="1806727"/>
            <a:ext cx="13781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Why </a:t>
            </a:r>
            <a:r>
              <a:rPr b="1" lang="en" sz="3600">
                <a:latin typeface="Century Gothic"/>
                <a:ea typeface="Century Gothic"/>
                <a:cs typeface="Century Gothic"/>
                <a:sym typeface="Century Gothic"/>
              </a:rPr>
              <a:t>Link-Based Ranking</a:t>
            </a:r>
            <a:r>
              <a:rPr b="1" lang="en" sz="36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?</a:t>
            </a:r>
            <a:endParaRPr b="1" sz="36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49308" y="3253903"/>
            <a:ext cx="3353700" cy="37155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A61C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highlight>
                  <a:srgbClr val="FDFDFD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Ability to efficiently retrieve and rank relevant information is crucial</a:t>
            </a:r>
            <a:endParaRPr sz="26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Google Shape;86;p16"/>
          <p:cNvCxnSpPr/>
          <p:nvPr/>
        </p:nvCxnSpPr>
        <p:spPr>
          <a:xfrm>
            <a:off x="2710775" y="1780050"/>
            <a:ext cx="0" cy="1053600"/>
          </a:xfrm>
          <a:prstGeom prst="straightConnector1">
            <a:avLst/>
          </a:prstGeom>
          <a:noFill/>
          <a:ln cap="flat" cmpd="sng" w="28575">
            <a:solidFill>
              <a:srgbClr val="A61C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/>
        </p:nvSpPr>
        <p:spPr>
          <a:xfrm>
            <a:off x="2920163" y="1851227"/>
            <a:ext cx="13781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Century Gothic"/>
                <a:ea typeface="Century Gothic"/>
                <a:cs typeface="Century Gothic"/>
                <a:sym typeface="Century Gothic"/>
              </a:rPr>
              <a:t>Need for Parallel Link Based Algorithm</a:t>
            </a:r>
            <a:endParaRPr b="1" sz="36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2780915" y="8055386"/>
            <a:ext cx="14295600" cy="11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" name="Google Shape;89;p16"/>
          <p:cNvSpPr txBox="1"/>
          <p:nvPr/>
        </p:nvSpPr>
        <p:spPr>
          <a:xfrm>
            <a:off x="3038025" y="3136813"/>
            <a:ext cx="13781400" cy="53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Century Gothic"/>
              <a:buChar char="●"/>
            </a:pPr>
            <a:r>
              <a:rPr lang="en" sz="3200">
                <a:latin typeface="Century Gothic"/>
                <a:ea typeface="Century Gothic"/>
                <a:cs typeface="Century Gothic"/>
                <a:sym typeface="Century Gothic"/>
              </a:rPr>
              <a:t>Web graphs contain millions to billions of nodes/links</a:t>
            </a:r>
            <a:br>
              <a:rPr lang="en" sz="3200">
                <a:latin typeface="Century Gothic"/>
                <a:ea typeface="Century Gothic"/>
                <a:cs typeface="Century Gothic"/>
                <a:sym typeface="Century Gothic"/>
              </a:rPr>
            </a:b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Century Gothic"/>
              <a:buChar char="●"/>
            </a:pPr>
            <a:r>
              <a:rPr lang="en" sz="3200">
                <a:latin typeface="Century Gothic"/>
                <a:ea typeface="Century Gothic"/>
                <a:cs typeface="Century Gothic"/>
                <a:sym typeface="Century Gothic"/>
              </a:rPr>
              <a:t>Sequential execution is time-consuming and resource-heavy</a:t>
            </a:r>
            <a:br>
              <a:rPr lang="en" sz="3200">
                <a:latin typeface="Century Gothic"/>
                <a:ea typeface="Century Gothic"/>
                <a:cs typeface="Century Gothic"/>
                <a:sym typeface="Century Gothic"/>
              </a:rPr>
            </a:b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Century Gothic"/>
              <a:buChar char="●"/>
            </a:pPr>
            <a:r>
              <a:rPr lang="en" sz="3200">
                <a:latin typeface="Century Gothic"/>
                <a:ea typeface="Century Gothic"/>
                <a:cs typeface="Century Gothic"/>
                <a:sym typeface="Century Gothic"/>
              </a:rPr>
              <a:t>Parallel computing enables scalability and faster convergence</a:t>
            </a:r>
            <a:br>
              <a:rPr lang="en" sz="3200">
                <a:latin typeface="Century Gothic"/>
                <a:ea typeface="Century Gothic"/>
                <a:cs typeface="Century Gothic"/>
                <a:sym typeface="Century Gothic"/>
              </a:rPr>
            </a:b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Font typeface="Century Gothic"/>
              <a:buChar char="●"/>
            </a:pPr>
            <a:r>
              <a:rPr lang="en" sz="3200">
                <a:latin typeface="Century Gothic"/>
                <a:ea typeface="Century Gothic"/>
                <a:cs typeface="Century Gothic"/>
                <a:sym typeface="Century Gothic"/>
              </a:rPr>
              <a:t>MPI &amp; OpenMP allow efficient processing of large-scale data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32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Used : </a:t>
            </a:r>
            <a:endParaRPr/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975" y="2986100"/>
            <a:ext cx="15696599" cy="5051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1967950" y="420375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Hyperlink Induced Topic Search Algorithm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1967950" y="2484550"/>
            <a:ext cx="156966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Font typeface="Century Gothic"/>
              <a:buChar char="-"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Web link structures to discover and rank the webpages relevant for a particular search.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320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 web page is named as HUB if the page point to various hyperlinks and as AUTHORITY if  the web page is pointed by many </a:t>
            </a: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hyperlinks</a:t>
            </a: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3200"/>
              </a:spcBef>
              <a:spcAft>
                <a:spcPts val="3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4450" y="5509700"/>
            <a:ext cx="8746101" cy="4583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 Steps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1967950" y="2228750"/>
            <a:ext cx="156966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19100" lvl="0" marL="457200" rtl="0" algn="l">
              <a:spcBef>
                <a:spcPts val="1800"/>
              </a:spcBef>
              <a:spcAft>
                <a:spcPts val="0"/>
              </a:spcAft>
              <a:buClr>
                <a:srgbClr val="2A2A2A"/>
              </a:buClr>
              <a:buSzPts val="3000"/>
              <a:buFont typeface="Century Gothic"/>
              <a:buChar char="●"/>
            </a:pPr>
            <a:r>
              <a:rPr lang="en" sz="3000">
                <a:solidFill>
                  <a:srgbClr val="2A2A2A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Initialize the hub and authority of each node with a value of 1</a:t>
            </a:r>
            <a:endParaRPr sz="3000">
              <a:solidFill>
                <a:srgbClr val="2A2A2A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3000"/>
              <a:buFont typeface="Century Gothic"/>
              <a:buChar char="●"/>
            </a:pPr>
            <a:r>
              <a:rPr lang="en" sz="3000">
                <a:solidFill>
                  <a:srgbClr val="2A2A2A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For each iteration, update the hub and authority of every node in the graph</a:t>
            </a:r>
            <a:endParaRPr sz="3000">
              <a:solidFill>
                <a:srgbClr val="2A2A2A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3000"/>
              <a:buChar char="●"/>
            </a:pPr>
            <a:r>
              <a:rPr lang="en" sz="3000">
                <a:solidFill>
                  <a:srgbClr val="2A2A2A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The new authority is the </a:t>
            </a:r>
            <a:r>
              <a:rPr b="1" lang="en" sz="3000">
                <a:solidFill>
                  <a:srgbClr val="2A2A2A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sum of the hub</a:t>
            </a:r>
            <a:r>
              <a:rPr lang="en" sz="3000">
                <a:solidFill>
                  <a:srgbClr val="2A2A2A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of its parents</a:t>
            </a:r>
            <a:endParaRPr sz="3000">
              <a:solidFill>
                <a:srgbClr val="2A2A2A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3000"/>
              <a:buChar char="●"/>
            </a:pPr>
            <a:r>
              <a:rPr lang="en" sz="3000">
                <a:solidFill>
                  <a:srgbClr val="2A2A2A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The new hub is the </a:t>
            </a:r>
            <a:r>
              <a:rPr b="1" lang="en" sz="3000">
                <a:solidFill>
                  <a:srgbClr val="2A2A2A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sum of the authority</a:t>
            </a:r>
            <a:r>
              <a:rPr lang="en" sz="3000">
                <a:solidFill>
                  <a:srgbClr val="2A2A2A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of its children</a:t>
            </a:r>
            <a:endParaRPr sz="3000">
              <a:solidFill>
                <a:srgbClr val="2A2A2A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3000"/>
              <a:buFont typeface="Century Gothic"/>
              <a:buChar char="●"/>
            </a:pPr>
            <a:r>
              <a:rPr lang="en" sz="3000">
                <a:solidFill>
                  <a:srgbClr val="2A2A2A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Normalize the new authority and hub</a:t>
            </a:r>
            <a:endParaRPr sz="3000">
              <a:solidFill>
                <a:srgbClr val="2A2A2A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t/>
            </a:r>
            <a:endParaRPr sz="3200"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5109" y="5725100"/>
            <a:ext cx="9030849" cy="333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Parallelize HITS</a:t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7325" y="2111100"/>
            <a:ext cx="13049250" cy="653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Page Rank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4600">
              <a:solidFill>
                <a:srgbClr val="66666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1967950" y="2228750"/>
            <a:ext cx="156966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19100" lvl="0" marL="457200" rtl="0" algn="l">
              <a:spcBef>
                <a:spcPts val="2400"/>
              </a:spcBef>
              <a:spcAft>
                <a:spcPts val="0"/>
              </a:spcAft>
              <a:buClr>
                <a:srgbClr val="2A2A2A"/>
              </a:buClr>
              <a:buSzPts val="3000"/>
              <a:buFont typeface="Century Gothic"/>
              <a:buChar char="●"/>
            </a:pPr>
            <a:r>
              <a:rPr lang="en" sz="3000">
                <a:solidFill>
                  <a:srgbClr val="2A2A2A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It was the original algorithm that Google search used to rank websites in their search engine results. </a:t>
            </a:r>
            <a:endParaRPr sz="3000">
              <a:solidFill>
                <a:srgbClr val="2A2A2A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3000"/>
              <a:buFont typeface="Century Gothic"/>
              <a:buChar char="●"/>
            </a:pPr>
            <a:r>
              <a:rPr lang="en" sz="3000">
                <a:solidFill>
                  <a:srgbClr val="2A2A2A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Page Rank works by counting the number and quality of links to a page to determine a rough estimate of how important a particular website is.</a:t>
            </a:r>
            <a:endParaRPr sz="3000">
              <a:solidFill>
                <a:srgbClr val="2A2A2A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3200"/>
              </a:spcAft>
              <a:buNone/>
            </a:pPr>
            <a:r>
              <a:t/>
            </a:r>
            <a:endParaRPr sz="320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6413" y="5143500"/>
            <a:ext cx="7731077" cy="424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entury Gothic"/>
                <a:ea typeface="Century Gothic"/>
                <a:cs typeface="Century Gothic"/>
                <a:sym typeface="Century Gothic"/>
              </a:rPr>
              <a:t>Algorithm Steps</a:t>
            </a:r>
            <a:endParaRPr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4600">
              <a:solidFill>
                <a:srgbClr val="66666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2"/>
          <p:cNvSpPr txBox="1"/>
          <p:nvPr>
            <p:ph idx="1" type="body"/>
          </p:nvPr>
        </p:nvSpPr>
        <p:spPr>
          <a:xfrm>
            <a:off x="1967950" y="2228750"/>
            <a:ext cx="156966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19100" lvl="0" marL="457200" rtl="0" algn="l">
              <a:spcBef>
                <a:spcPts val="2400"/>
              </a:spcBef>
              <a:spcAft>
                <a:spcPts val="0"/>
              </a:spcAft>
              <a:buClr>
                <a:srgbClr val="2A2A2A"/>
              </a:buClr>
              <a:buSzPts val="3000"/>
              <a:buFont typeface="Century Gothic"/>
              <a:buChar char="●"/>
            </a:pPr>
            <a:r>
              <a:rPr lang="en" sz="3000">
                <a:solidFill>
                  <a:srgbClr val="2A2A2A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Each node starts with equal rank. </a:t>
            </a:r>
            <a:endParaRPr sz="3000">
              <a:solidFill>
                <a:srgbClr val="2A2A2A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3000"/>
              <a:buFont typeface="Century Gothic"/>
              <a:buChar char="●"/>
            </a:pPr>
            <a:r>
              <a:rPr lang="en" sz="3000">
                <a:solidFill>
                  <a:srgbClr val="2A2A2A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In each iteration, the rank is distributed from a page to its linked pages based on its out-degree.</a:t>
            </a:r>
            <a:endParaRPr sz="3000">
              <a:solidFill>
                <a:srgbClr val="2A2A2A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3000"/>
              <a:buFont typeface="Century Gothic"/>
              <a:buChar char="●"/>
            </a:pPr>
            <a:r>
              <a:rPr lang="en" sz="3000">
                <a:solidFill>
                  <a:srgbClr val="2A2A2A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A damping factor simulates the probability of continuing to click links vs jumping to a random page. </a:t>
            </a:r>
            <a:endParaRPr sz="3000">
              <a:solidFill>
                <a:srgbClr val="2A2A2A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3000"/>
              <a:buFont typeface="Century Gothic"/>
              <a:buChar char="●"/>
            </a:pPr>
            <a:r>
              <a:rPr lang="en" sz="3000">
                <a:solidFill>
                  <a:srgbClr val="2A2A2A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The process repeats until the PageRank values converge (i.e., changes become very small).</a:t>
            </a:r>
            <a:endParaRPr sz="320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3925" y="6444163"/>
            <a:ext cx="6858000" cy="22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 Page Rank -MPI and OpenMP</a:t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1967950" y="2228750"/>
            <a:ext cx="156966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MPI		  															OpenMP				</a:t>
            </a:r>
            <a:endParaRPr/>
          </a:p>
          <a:p>
            <a:pPr indent="0" lvl="0" marL="0" rtl="0" algn="l">
              <a:spcBef>
                <a:spcPts val="3200"/>
              </a:spcBef>
              <a:spcAft>
                <a:spcPts val="3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3550" y="3391325"/>
            <a:ext cx="7152400" cy="56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7950" y="3466500"/>
            <a:ext cx="7801536" cy="472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Parallelize Page Rank</a:t>
            </a:r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 rotWithShape="1">
          <a:blip r:embed="rId3">
            <a:alphaModFix/>
          </a:blip>
          <a:srcRect b="0" l="4600" r="-4600" t="0"/>
          <a:stretch/>
        </p:blipFill>
        <p:spPr>
          <a:xfrm>
            <a:off x="3805050" y="2111100"/>
            <a:ext cx="12973050" cy="681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8" name="Google Shape;148;p25"/>
          <p:cNvCxnSpPr/>
          <p:nvPr/>
        </p:nvCxnSpPr>
        <p:spPr>
          <a:xfrm>
            <a:off x="2466100" y="682000"/>
            <a:ext cx="0" cy="1599300"/>
          </a:xfrm>
          <a:prstGeom prst="straightConnector1">
            <a:avLst/>
          </a:prstGeom>
          <a:noFill/>
          <a:ln cap="flat" cmpd="sng" w="28575">
            <a:solidFill>
              <a:srgbClr val="A61C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25"/>
          <p:cNvSpPr txBox="1"/>
          <p:nvPr/>
        </p:nvSpPr>
        <p:spPr>
          <a:xfrm>
            <a:off x="2675849" y="837322"/>
            <a:ext cx="14459100" cy="11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Main Takeaways and Next Steps</a:t>
            </a:r>
            <a:endParaRPr sz="42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3355767" y="3830393"/>
            <a:ext cx="2723700" cy="9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C0504D"/>
                </a:solidFill>
              </a:rPr>
              <a:t>Takeaways</a:t>
            </a:r>
            <a:endParaRPr sz="3200">
              <a:solidFill>
                <a:srgbClr val="C0504D"/>
              </a:solidFill>
            </a:endParaRPr>
          </a:p>
        </p:txBody>
      </p:sp>
      <p:sp>
        <p:nvSpPr>
          <p:cNvPr id="151" name="Google Shape;151;p25"/>
          <p:cNvSpPr txBox="1"/>
          <p:nvPr/>
        </p:nvSpPr>
        <p:spPr>
          <a:xfrm>
            <a:off x="3355767" y="7715654"/>
            <a:ext cx="27237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C0504D"/>
                </a:solidFill>
              </a:rPr>
              <a:t>Next Steps</a:t>
            </a:r>
            <a:endParaRPr sz="3000">
              <a:solidFill>
                <a:srgbClr val="C0504D"/>
              </a:solidFill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8917952" y="5165068"/>
            <a:ext cx="7536900" cy="11040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200">
                <a:latin typeface="Century Gothic"/>
                <a:ea typeface="Century Gothic"/>
                <a:cs typeface="Century Gothic"/>
                <a:sym typeface="Century Gothic"/>
              </a:rPr>
              <a:t>Reinforced the importance of </a:t>
            </a:r>
            <a:r>
              <a:rPr b="1" lang="en" sz="2200">
                <a:latin typeface="Century Gothic"/>
                <a:ea typeface="Century Gothic"/>
                <a:cs typeface="Century Gothic"/>
                <a:sym typeface="Century Gothic"/>
              </a:rPr>
              <a:t>parallel computing</a:t>
            </a:r>
            <a:r>
              <a:rPr lang="en" sz="2200">
                <a:latin typeface="Century Gothic"/>
                <a:ea typeface="Century Gothic"/>
                <a:cs typeface="Century Gothic"/>
                <a:sym typeface="Century Gothic"/>
              </a:rPr>
              <a:t> in handling web-scale data</a:t>
            </a:r>
            <a:endParaRPr sz="35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9098833" y="8150615"/>
            <a:ext cx="7536900" cy="11040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200">
                <a:latin typeface="Century Gothic"/>
                <a:ea typeface="Century Gothic"/>
                <a:cs typeface="Century Gothic"/>
                <a:sym typeface="Century Gothic"/>
              </a:rPr>
              <a:t>Scale to real-world web graphs</a:t>
            </a:r>
            <a:r>
              <a:rPr lang="en" sz="2200">
                <a:latin typeface="Century Gothic"/>
                <a:ea typeface="Century Gothic"/>
                <a:cs typeface="Century Gothic"/>
                <a:sym typeface="Century Gothic"/>
              </a:rPr>
              <a:t> (e.g., Common Crawl, Wikipedia dumps)</a:t>
            </a:r>
            <a:endParaRPr sz="25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4" name="Google Shape;154;p25"/>
          <p:cNvSpPr/>
          <p:nvPr/>
        </p:nvSpPr>
        <p:spPr>
          <a:xfrm>
            <a:off x="9098833" y="6864440"/>
            <a:ext cx="7536900" cy="11040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25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200">
                <a:latin typeface="Century Gothic"/>
                <a:ea typeface="Century Gothic"/>
                <a:cs typeface="Century Gothic"/>
                <a:sym typeface="Century Gothic"/>
              </a:rPr>
              <a:t>Implement GPU-based acceleration</a:t>
            </a:r>
            <a:r>
              <a:rPr lang="en" sz="2200">
                <a:latin typeface="Century Gothic"/>
                <a:ea typeface="Century Gothic"/>
                <a:cs typeface="Century Gothic"/>
                <a:sym typeface="Century Gothic"/>
              </a:rPr>
              <a:t> using CUDA for even faster performance</a:t>
            </a:r>
            <a:endParaRPr b="1" sz="25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55" name="Google Shape;155;p25"/>
          <p:cNvSpPr/>
          <p:nvPr/>
        </p:nvSpPr>
        <p:spPr>
          <a:xfrm>
            <a:off x="8615233" y="3749500"/>
            <a:ext cx="8142300" cy="11040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2400">
                <a:latin typeface="Century Gothic"/>
                <a:ea typeface="Century Gothic"/>
                <a:cs typeface="Century Gothic"/>
                <a:sym typeface="Century Gothic"/>
              </a:rPr>
              <a:t>Execution time reduced</a:t>
            </a:r>
            <a:r>
              <a:rPr lang="en" sz="2400">
                <a:latin typeface="Century Gothic"/>
                <a:ea typeface="Century Gothic"/>
                <a:cs typeface="Century Gothic"/>
                <a:sym typeface="Century Gothic"/>
              </a:rPr>
              <a:t> significantly compared to serial versions</a:t>
            </a:r>
            <a:endParaRPr sz="36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6" name="Google Shape;156;p25"/>
          <p:cNvSpPr/>
          <p:nvPr/>
        </p:nvSpPr>
        <p:spPr>
          <a:xfrm>
            <a:off x="8615233" y="2179520"/>
            <a:ext cx="8142300" cy="11040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latin typeface="Century Gothic"/>
                <a:ea typeface="Century Gothic"/>
                <a:cs typeface="Century Gothic"/>
                <a:sym typeface="Century Gothic"/>
              </a:rPr>
              <a:t>Demonstrated </a:t>
            </a:r>
            <a:r>
              <a:rPr b="1" lang="en" sz="2300">
                <a:latin typeface="Century Gothic"/>
                <a:ea typeface="Century Gothic"/>
                <a:cs typeface="Century Gothic"/>
                <a:sym typeface="Century Gothic"/>
              </a:rPr>
              <a:t>performance gains</a:t>
            </a:r>
            <a:r>
              <a:rPr lang="en" sz="2300">
                <a:latin typeface="Century Gothic"/>
                <a:ea typeface="Century Gothic"/>
                <a:cs typeface="Century Gothic"/>
                <a:sym typeface="Century Gothic"/>
              </a:rPr>
              <a:t> through parallelization using </a:t>
            </a:r>
            <a:r>
              <a:rPr b="1" lang="en" sz="2300">
                <a:latin typeface="Century Gothic"/>
                <a:ea typeface="Century Gothic"/>
                <a:cs typeface="Century Gothic"/>
                <a:sym typeface="Century Gothic"/>
              </a:rPr>
              <a:t>MPI and OpenMP</a:t>
            </a:r>
            <a:endParaRPr sz="370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6774021" y="6864440"/>
            <a:ext cx="1054200" cy="11040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1</a:t>
            </a:r>
            <a:endParaRPr sz="2000"/>
          </a:p>
        </p:txBody>
      </p:sp>
      <p:sp>
        <p:nvSpPr>
          <p:cNvPr id="158" name="Google Shape;158;p25"/>
          <p:cNvSpPr/>
          <p:nvPr/>
        </p:nvSpPr>
        <p:spPr>
          <a:xfrm>
            <a:off x="6774021" y="8160436"/>
            <a:ext cx="1054200" cy="11040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2</a:t>
            </a:r>
            <a:endParaRPr sz="2000"/>
          </a:p>
        </p:txBody>
      </p:sp>
      <p:sp>
        <p:nvSpPr>
          <p:cNvPr id="159" name="Google Shape;159;p25"/>
          <p:cNvSpPr/>
          <p:nvPr/>
        </p:nvSpPr>
        <p:spPr>
          <a:xfrm>
            <a:off x="6665484" y="5244521"/>
            <a:ext cx="1054200" cy="11040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3</a:t>
            </a:r>
            <a:endParaRPr sz="2000"/>
          </a:p>
        </p:txBody>
      </p:sp>
      <p:sp>
        <p:nvSpPr>
          <p:cNvPr id="160" name="Google Shape;160;p25"/>
          <p:cNvSpPr/>
          <p:nvPr/>
        </p:nvSpPr>
        <p:spPr>
          <a:xfrm>
            <a:off x="6665484" y="2328580"/>
            <a:ext cx="1054200" cy="11040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1</a:t>
            </a:r>
            <a:endParaRPr sz="2000"/>
          </a:p>
        </p:txBody>
      </p:sp>
      <p:sp>
        <p:nvSpPr>
          <p:cNvPr id="161" name="Google Shape;161;p25"/>
          <p:cNvSpPr/>
          <p:nvPr/>
        </p:nvSpPr>
        <p:spPr>
          <a:xfrm>
            <a:off x="6665484" y="3749500"/>
            <a:ext cx="1054200" cy="1104000"/>
          </a:xfrm>
          <a:prstGeom prst="roundRect">
            <a:avLst>
              <a:gd fmla="val 16667" name="adj"/>
            </a:avLst>
          </a:prstGeom>
          <a:solidFill>
            <a:srgbClr val="EEECE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2</a:t>
            </a:r>
            <a:endParaRPr sz="2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1967950" y="858900"/>
            <a:ext cx="15468000" cy="1252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1967950" y="2228750"/>
            <a:ext cx="156966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Autofit/>
          </a:bodyPr>
          <a:lstStyle/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AutoNum type="arabicPeriod"/>
            </a:pPr>
            <a:r>
              <a:rPr lang="en"/>
              <a:t>Authoritative Sources in a Hyperlinked Environment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AutoNum type="arabi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https://en.wikipedia.org/wiki/HITS_algorithm</a:t>
            </a:r>
            <a:endParaRPr/>
          </a:p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SzPts val="3500"/>
              <a:buAutoNum type="arabicPeriod"/>
            </a:pPr>
            <a:r>
              <a:rPr lang="en"/>
              <a:t>The Pagerank Citation Ranking : Bringing Order to the Web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d Rectangle">
  <a:themeElements>
    <a:clrScheme name="Coral">
      <a:dk1>
        <a:srgbClr val="CC0000"/>
      </a:dk1>
      <a:lt1>
        <a:srgbClr val="FFFFFF"/>
      </a:lt1>
      <a:dk2>
        <a:srgbClr val="6D6D6D"/>
      </a:dk2>
      <a:lt2>
        <a:srgbClr val="C3C3C3"/>
      </a:lt2>
      <a:accent1>
        <a:srgbClr val="990000"/>
      </a:accent1>
      <a:accent2>
        <a:srgbClr val="008473"/>
      </a:accent2>
      <a:accent3>
        <a:srgbClr val="427E93"/>
      </a:accent3>
      <a:accent4>
        <a:srgbClr val="D14905"/>
      </a:accent4>
      <a:accent5>
        <a:srgbClr val="FAC800"/>
      </a:accent5>
      <a:accent6>
        <a:srgbClr val="6F7D1C"/>
      </a:accent6>
      <a:hlink>
        <a:srgbClr val="CC0000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